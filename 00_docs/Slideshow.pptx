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9A9E62-1579-4702-A180-398544601F08}">
  <a:tblStyle styleId="{5B9A9E62-1579-4702-A180-398544601F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Oswald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42dc8a0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42dc8a0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2dc8a0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42dc8a0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a42dc8a0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a42dc8a0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42dc8a0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a42dc8a0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8e0c37b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8e0c37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36213f9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b36213f9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13862" y="148372"/>
            <a:ext cx="2777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Oswald"/>
                <a:ea typeface="Oswald"/>
                <a:cs typeface="Oswald"/>
                <a:sym typeface="Oswald"/>
              </a:rPr>
              <a:t>Subject2Image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-2257276" y="3576775"/>
            <a:ext cx="3381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Computer Vision and Cognitive Systems</a:t>
            </a:r>
            <a:endParaRPr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101573" y="4364592"/>
            <a:ext cx="39120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Sofia </a:t>
            </a:r>
            <a:r>
              <a:rPr lang="i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Caruso, Giacomo Tessari 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500"/>
              </a:spcBef>
              <a:spcAft>
                <a:spcPts val="500"/>
              </a:spcAft>
              <a:buNone/>
            </a:pPr>
            <a:r>
              <a:rPr lang="i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Computer Vision and Cognitive Systems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13850" y="887575"/>
            <a:ext cx="750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rgbClr val="3A6074"/>
                </a:solidFill>
                <a:latin typeface="Oswald"/>
                <a:ea typeface="Oswald"/>
                <a:cs typeface="Oswald"/>
                <a:sym typeface="Oswald"/>
              </a:rPr>
              <a:t>Evaluating Adaptation Approaches for</a:t>
            </a:r>
            <a:endParaRPr sz="3000">
              <a:solidFill>
                <a:srgbClr val="3A6074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rgbClr val="3A6074"/>
                </a:solidFill>
                <a:latin typeface="Oswald"/>
                <a:ea typeface="Oswald"/>
                <a:cs typeface="Oswald"/>
                <a:sym typeface="Oswald"/>
              </a:rPr>
              <a:t>Subject-Driven Image Generation</a:t>
            </a:r>
            <a:endParaRPr sz="3000">
              <a:solidFill>
                <a:srgbClr val="3A607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58575" y="891100"/>
            <a:ext cx="37065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800"/>
              </a:spcAft>
              <a:buNone/>
            </a:pPr>
            <a:r>
              <a:rPr i="1" lang="it" sz="1600">
                <a:latin typeface="Nunito"/>
                <a:ea typeface="Nunito"/>
                <a:cs typeface="Nunito"/>
                <a:sym typeface="Nunito"/>
              </a:rPr>
              <a:t>Can AI Learn Your Style Without Forgetting Everything Else?</a:t>
            </a:r>
            <a:endParaRPr i="1"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644675" y="244600"/>
            <a:ext cx="4258500" cy="48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In this work, we systematically evaluate subject-driven personalization across three distinct pipelines, </a:t>
            </a:r>
            <a:r>
              <a:rPr b="1"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comparing Low-Rank Adaptation (LoRA) and Textual Inversion</a:t>
            </a: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We benchmark all implementations on the standard DreamBooth dataset using a comprehensive suite of quantitative metrics: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659" lvl="0" marL="457200" rtl="0" algn="l"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1403"/>
              <a:buFont typeface="Nunito"/>
              <a:buChar char="●"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CLIP-T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659" lvl="0" marL="45720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3"/>
              <a:buFont typeface="Nunito"/>
              <a:buChar char="●"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CLIP-I and DINO-I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659" lvl="0" marL="45720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3"/>
              <a:buFont typeface="Nunito"/>
              <a:buChar char="●"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LPIPS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Experimental results demonstrate that: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659" lvl="0" marL="457200" rtl="0" algn="l">
              <a:spcBef>
                <a:spcPts val="1200"/>
              </a:spcBef>
              <a:spcAft>
                <a:spcPts val="0"/>
              </a:spcAft>
              <a:buClr>
                <a:srgbClr val="263238"/>
              </a:buClr>
              <a:buSzPts val="1403"/>
              <a:buFont typeface="Nunito"/>
              <a:buChar char="●"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LoRA-based weight adaptation </a:t>
            </a: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significantly </a:t>
            </a: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outperforms Textual Inversion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659" lvl="0" marL="45720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3"/>
              <a:buFont typeface="Nunito"/>
              <a:buChar char="●"/>
            </a:pPr>
            <a:r>
              <a:rPr lang="it" sz="1403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The first LoRA pipeline achieves the highest overall performance in subject fidelity and visual preservation</a:t>
            </a:r>
            <a:endParaRPr sz="1403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58575" y="244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11896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Oswald"/>
                <a:ea typeface="Oswald"/>
                <a:cs typeface="Oswald"/>
                <a:sym typeface="Oswald"/>
              </a:rPr>
              <a:t>Method and Implementation</a:t>
            </a:r>
            <a:endParaRPr sz="30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94950" y="1678152"/>
            <a:ext cx="8354100" cy="28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3 pipelines: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Generation Only: </a:t>
            </a:r>
            <a:r>
              <a:rPr lang="it" sz="1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An unpersonalized generation baseline, used as an anchor to measure the base model’s intrinsic text-prompt alignment without subject adaptation.</a:t>
            </a:r>
            <a:endParaRPr sz="1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LoRA Baseline: 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A parameter-efficient fine-tuning setup that integrates Low-Rank Adaptation into the DreamBooth framework.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LoRA Custom: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 An extended variant of the first pipeline, combining LoRA-based weight adaptation with spatial data augmentation on the fine-tuning reference set.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Textual Inversion Custom: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 A modern adaptation of Textual Inversion scaled to the Stable Diffusion 3.5 architecture, optimizing text embeddings within its multi-encoder prompt space.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311900"/>
            <a:ext cx="8520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Oswald"/>
                <a:ea typeface="Oswald"/>
                <a:cs typeface="Oswald"/>
                <a:sym typeface="Oswald"/>
              </a:rPr>
              <a:t>Quantitative results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311700" y="178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{5B9A9E62-1579-4702-A180-398544601F08}</a:tableStyleId>
              </a:tblPr>
              <a:tblGrid>
                <a:gridCol w="1593625"/>
                <a:gridCol w="1249375"/>
                <a:gridCol w="1304900"/>
                <a:gridCol w="1755950"/>
                <a:gridCol w="1325725"/>
                <a:gridCol w="1291025"/>
              </a:tblGrid>
              <a:tr h="5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CLIP-T ↑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CLIP-I ↑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CLIP-I × CLIP-T ↑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DINO-I ↑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LPIPS ↓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</a:tr>
              <a:tr h="5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Generation Only</a:t>
                      </a:r>
                      <a:endParaRPr b="1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0.8953</a:t>
                      </a:r>
                      <a:endParaRPr b="1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0.61</a:t>
                      </a:r>
                      <a:endParaRPr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0.5461</a:t>
                      </a:r>
                      <a:endParaRPr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0.2846</a:t>
                      </a:r>
                      <a:endParaRPr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0.7919</a:t>
                      </a:r>
                      <a:endParaRPr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</a:tr>
              <a:tr h="5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LoRA Baseline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0.8678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0.6509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0.5648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0.6303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0.7134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</a:tr>
              <a:tr h="5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LoRA Custom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0.8723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0.6451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0.5627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0.6252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0.7201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</a:tr>
              <a:tr h="5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TI Custom</a:t>
                      </a:r>
                      <a:endParaRPr b="1"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0.8763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0.6175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0.5411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0.3016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263238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0.7780</a:t>
                      </a:r>
                      <a:endParaRPr>
                        <a:solidFill>
                          <a:srgbClr val="263238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1900"/>
            <a:ext cx="85206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Oswald"/>
                <a:ea typeface="Oswald"/>
                <a:cs typeface="Oswald"/>
                <a:sym typeface="Oswald"/>
              </a:rPr>
              <a:t>Qualitative results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605214" y="1507660"/>
            <a:ext cx="7933572" cy="3575540"/>
            <a:chOff x="640075" y="1346909"/>
            <a:chExt cx="7933572" cy="3575540"/>
          </a:xfrm>
        </p:grpSpPr>
        <p:pic>
          <p:nvPicPr>
            <p:cNvPr id="93" name="Google Shape;93;p17" title="qualitative.png"/>
            <p:cNvPicPr preferRelativeResize="0"/>
            <p:nvPr/>
          </p:nvPicPr>
          <p:blipFill rotWithShape="1">
            <a:blip r:embed="rId3">
              <a:alphaModFix/>
            </a:blip>
            <a:srcRect b="45887" l="0" r="50879" t="0"/>
            <a:stretch/>
          </p:blipFill>
          <p:spPr>
            <a:xfrm>
              <a:off x="640075" y="1346909"/>
              <a:ext cx="3666171" cy="35755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4" name="Google Shape;94;p17"/>
            <p:cNvGrpSpPr/>
            <p:nvPr/>
          </p:nvGrpSpPr>
          <p:grpSpPr>
            <a:xfrm>
              <a:off x="4874357" y="1346967"/>
              <a:ext cx="3699289" cy="3388503"/>
              <a:chOff x="4953257" y="1346900"/>
              <a:chExt cx="3768248" cy="3451669"/>
            </a:xfrm>
          </p:grpSpPr>
          <p:pic>
            <p:nvPicPr>
              <p:cNvPr id="95" name="Google Shape;95;p17" title="qualitative.png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50831" t="56687"/>
              <a:stretch/>
            </p:blipFill>
            <p:spPr>
              <a:xfrm>
                <a:off x="4953257" y="1860045"/>
                <a:ext cx="3768248" cy="29385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17" title="qualitative.png"/>
              <p:cNvPicPr preferRelativeResize="0"/>
              <p:nvPr/>
            </p:nvPicPr>
            <p:blipFill rotWithShape="1">
              <a:blip r:embed="rId3">
                <a:alphaModFix/>
              </a:blip>
              <a:srcRect b="93478" l="13436" r="51683" t="0"/>
              <a:stretch/>
            </p:blipFill>
            <p:spPr>
              <a:xfrm>
                <a:off x="5989319" y="1346900"/>
                <a:ext cx="2697523" cy="446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119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Oswald"/>
                <a:ea typeface="Oswald"/>
                <a:cs typeface="Oswald"/>
                <a:sym typeface="Oswald"/>
              </a:rPr>
              <a:t>Qualitative results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506929" y="1523527"/>
            <a:ext cx="8041537" cy="3436269"/>
            <a:chOff x="555100" y="1486589"/>
            <a:chExt cx="7987223" cy="3413060"/>
          </a:xfrm>
        </p:grpSpPr>
        <p:pic>
          <p:nvPicPr>
            <p:cNvPr id="103" name="Google Shape;103;p18" title="qualitative.png"/>
            <p:cNvPicPr preferRelativeResize="0"/>
            <p:nvPr/>
          </p:nvPicPr>
          <p:blipFill rotWithShape="1">
            <a:blip r:embed="rId3">
              <a:alphaModFix/>
            </a:blip>
            <a:srcRect b="48049" l="49398" r="0" t="0"/>
            <a:stretch/>
          </p:blipFill>
          <p:spPr>
            <a:xfrm>
              <a:off x="555100" y="1486600"/>
              <a:ext cx="3755325" cy="34130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" name="Google Shape;104;p18"/>
            <p:cNvGrpSpPr/>
            <p:nvPr/>
          </p:nvGrpSpPr>
          <p:grpSpPr>
            <a:xfrm>
              <a:off x="4786998" y="1486589"/>
              <a:ext cx="3755325" cy="3347105"/>
              <a:chOff x="4786998" y="1486589"/>
              <a:chExt cx="3755325" cy="3347105"/>
            </a:xfrm>
          </p:grpSpPr>
          <p:pic>
            <p:nvPicPr>
              <p:cNvPr id="105" name="Google Shape;105;p18" title="qualitative.png"/>
              <p:cNvPicPr preferRelativeResize="0"/>
              <p:nvPr/>
            </p:nvPicPr>
            <p:blipFill rotWithShape="1">
              <a:blip r:embed="rId3">
                <a:alphaModFix/>
              </a:blip>
              <a:srcRect b="0" l="49812" r="0" t="56194"/>
              <a:stretch/>
            </p:blipFill>
            <p:spPr>
              <a:xfrm>
                <a:off x="4786998" y="1932142"/>
                <a:ext cx="3755325" cy="29015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18" title="qualitative.png"/>
              <p:cNvPicPr preferRelativeResize="0"/>
              <p:nvPr/>
            </p:nvPicPr>
            <p:blipFill rotWithShape="1">
              <a:blip r:embed="rId3">
                <a:alphaModFix/>
              </a:blip>
              <a:srcRect b="93079" l="63603" r="0" t="0"/>
              <a:stretch/>
            </p:blipFill>
            <p:spPr>
              <a:xfrm>
                <a:off x="5843551" y="1486589"/>
                <a:ext cx="2682399" cy="4515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3119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Oswald"/>
                <a:ea typeface="Oswald"/>
                <a:cs typeface="Oswald"/>
                <a:sym typeface="Oswald"/>
              </a:rPr>
              <a:t>Discussion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" name="Google Shape;112;p19"/>
          <p:cNvSpPr txBox="1"/>
          <p:nvPr>
            <p:ph idx="4294967295" type="body"/>
          </p:nvPr>
        </p:nvSpPr>
        <p:spPr>
          <a:xfrm>
            <a:off x="394950" y="1678150"/>
            <a:ext cx="8354100" cy="3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Weight-Space vs. Text-Space: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LoRA fine-tuning demonstrates a fundamental capacity advantage over Textual Inversion to capture complex 3D geometry and fine-grained textures. In contrast, embedding-only optimization lacks the capacity to retain instance details, yielding weak identity preservation.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Effect of Spatial Data Augmentation: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Applying spatial transformations like cropping and rotation marginally improves prompt adherence, but degrades subject fidelity. These geometric perturbations disrupt high-frequency pixel alignments essential for reproducing fine details. Moreover, reference data augmentation causes the model to be more prone to overfitting.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63238"/>
              </a:buClr>
              <a:buSzPts val="1400"/>
              <a:buFont typeface="Nunito"/>
              <a:buChar char="●"/>
            </a:pPr>
            <a:r>
              <a:rPr b="1"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Multi-Encoder Complexity: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it" sz="1400">
                <a:solidFill>
                  <a:srgbClr val="263238"/>
                </a:solidFill>
                <a:latin typeface="Nunito"/>
                <a:ea typeface="Nunito"/>
                <a:cs typeface="Nunito"/>
                <a:sym typeface="Nunito"/>
              </a:rPr>
              <a:t>The underperformance of Textual Inversion is largely driven by the architectural complexity of Stable Diffusion 3.5, which integrates a triple text-encoder system with an MM-DiT backbone. Optimizing embeddings alone without fine-tuning the backbone's text stream provides insufficient control to steer generation within practical training limits.</a:t>
            </a:r>
            <a:endParaRPr sz="1400">
              <a:solidFill>
                <a:srgbClr val="26323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